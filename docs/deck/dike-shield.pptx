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3df88d2b-1c6c-92cf-722b-a6903b7e54f1}">
          <p14:sldIdLst>
            <p14:sldId id="256"/>
          </p14:sldIdLst>
        </p14:section>
        <p14:section name="Problem" id="{080b69e3-0a24-f057-225f-923ccf4866e2}">
          <p14:sldIdLst>
            <p14:sldId id="257"/>
          </p14:sldIdLst>
        </p14:section>
        <p14:section name="Solution" id="{e6340c27-e7fa-7ccc-15e0-151d015f9096}">
          <p14:sldIdLst>
            <p14:sldId id="258"/>
          </p14:sldIdLst>
        </p14:section>
        <p14:section name="How" id="{dee3defc-4462-d98a-29b8-01fbcc42b005}">
          <p14:sldIdLst>
            <p14:sldId id="259"/>
            <p14:sldId id="260"/>
            <p14:sldId id="261"/>
          </p14:sldIdLst>
        </p14:section>
        <p14:section name="Evidence" id="{c90aef72-a203-fa4f-da14-f6b165b0bd45}">
          <p14:sldIdLst>
            <p14:sldId id="262"/>
            <p14:sldId id="263"/>
          </p14:sldIdLst>
        </p14:section>
        <p14:section name="Close" id="{53bc2fe5-65fb-90fa-5bba-a219458a303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shield</c:v>
                </c:pt>
              </c:strCache>
            </c:strRef>
          </c:tx>
          <c:spPr>
            <a:solidFill>
              <a:srgbClr val="7A1F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FAST</c:v>
                  </c:pt>
                  <c:pt idx="1">
                    <c:v>DEEP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shield</c:v>
                </c:pt>
              </c:strCache>
            </c:strRef>
          </c:tx>
          <c:spPr>
            <a:solidFill>
              <a:srgbClr val="2F4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FAST</c:v>
                  </c:pt>
                  <c:pt idx="1">
                    <c:v>DEEP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4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0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42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sentence: a large model will invent a cite; Diké will catch it; the same family repairs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is a Chilean labor lawyer. Failure mode is a hallucinated cite in a demand for despido.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beats. Stress that Diké is the source of truth, not the judge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in six cards. Mention fail-closed engines: sidecar down still finishes the intercept.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 stack. NVIDIA key never in the repo. Diké is declared preexisting.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sponsor slide. Do not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Unique: traps, H-MEM, bank, live Lightning miss. Do not claim the live 30-q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dashboard disclaimer. Never present 0.0 as a production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is part of the product. SAMPLE_MODE banner is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division of labor. Ask for the NVIDIA prize on the live Lightning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65960"/>
            <a:ext cx="108813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Title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Subtitle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Title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510528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Dike Shield  ·  Open Agent Hackathon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6596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Diké Shield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Nemotron cites. Diké proves.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Open Agent Hackathon 2026  ·  The Agent That Can Explain Why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310896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477316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Chilean labor drafts, proven offline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draft the lawyer cannot send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6949440" cy="5074920"/>
          </a:xfrm>
          <a:prstGeom prst="roundRect">
            <a:avLst>
              <a:gd name="adj" fmla="val 144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Chilean labor lawyer needs a dismissal brief that will survive a courtroom, not a chat window.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Invented articles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Nemotron will happily emit artículo 9999 or an ambiguous artículo 14.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66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 offline proof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colleague cannot check the model. The file has to carry the evidence.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634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Memory that forgets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9834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next session repeats the same refuted cite unless something stores the miss.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1051560"/>
            <a:ext cx="4069080" cy="5074920"/>
          </a:xfrm>
          <a:prstGeom prst="roundRect">
            <a:avLst>
              <a:gd name="adj" fmla="val 1798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19659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8,544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31089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articles in a dated Chilean corpus. If it is not in the pack, Diké will not bless it.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49377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pack af1422d66d1e6eee  ·  2026-08-18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Prove every cite, then sign what survived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97480" cy="41605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Draft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FAST Lightning 30B writes the answer in Diké's citation format.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1143000"/>
            <a:ext cx="2697480" cy="41605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Prove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06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Diké returns VERIFICADA or FALLO. The loop never reinterprets that verdict.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2697480" cy="41605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Repair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06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DEEP Ultra 550B rewrites with verified articles only. Diké runs again.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98280" y="1143000"/>
            <a:ext cx="2697480" cy="41605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Commit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606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Ed25519 commitment. Anyone checks it offline, without the Runtime.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intercept, two runtimes, one dated corpus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Nightshift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AI provider. FAST drafts. DEEP judges and repairs. NVIDIA key stays in the Console.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0972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98848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Diké CLI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17830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Isolated HOME under .local/dike-home. Never touches ~/.lexo. 25 statutes, 8,544 articles.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0972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39328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Zetaris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17830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Lightning views over shield-db. The product reads through federation; writes go to Postgres.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767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H-MEM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25196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Refuted cites persist across sessions. Session B recalls artículo 9999 from session 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5661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98848" y="3767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Markovian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425196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Bounded loop. Done on publicar, abstener, escalar, or max_steps.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5661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9328" y="3767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425196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Spanish labels the contract forbids us to soften. Trace, before/after, bank, commitment ZIP.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Stack on the prize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713232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16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NVIDIA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216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Lightning 30B FAST, Ultra 550B DEEP. No meterless/auto.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56232"/>
            <a:ext cx="112471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208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Meterless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02082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Nightshift Runtime plus H-MEM and Markovian engines in a real loop.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60904"/>
            <a:ext cx="11247120" cy="713232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25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Zetaris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8254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9 Lightning views. 8544 rows proven via SELECT count(*).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112471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30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Cursor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6301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Built in the window. CURSOR_LOG is the session record.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270248"/>
            <a:ext cx="11247120" cy="713232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434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Diké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434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Pre-existing MIT engine, hashed, unmodified.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4712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239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Postgres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52395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shield-db :55432 on zetaris_default. Writes here, reads through Lightning.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Zetaris reads. Meterless decides.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4937760"/>
          </a:xfrm>
          <a:prstGeom prst="roundRect">
            <a:avLst>
              <a:gd name="adj" fmla="val 148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Zetaris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Datasource shield_pg on the local Lightning install.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Views, not REGISTER TABLES: this build's JDBC sees public, not schema shield.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SELECT count(*) FROM shield_pg.articulos → 8544.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judge reads article text through Lightning. Writes stay in psycopg.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097280"/>
            <a:ext cx="5486400" cy="4937760"/>
          </a:xfrm>
          <a:prstGeom prst="roundRect">
            <a:avLst>
              <a:gd name="adj" fmla="val 1481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Meterless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Nightshift is the only AI provider. FAST and DEEP are Nemotron ids.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H-MEM remember/recall of refuted cites. Conformance 13/13.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Markovian start/step on the intercept. Conformance 8/8.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Sidecar down: fail closed. The intercept still finishes.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was unique in the window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20/20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Traps fail on purpose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Invented, ambiguous, repealed, wrong-code cites. All FALLO. None collide with the corpus.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 → B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Memory across sessions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H-MEM recalled artículo 9999 in the next session as recordado de la sesión &lt;id&gt;.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Shielded bank rate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54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Scripted four-run bank: 0.5 unproven without the shield, 0.0 with it. Live 30-q pending Nightshift.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56616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391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Lightning miss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754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27 Oct run: artículo 14 at position 391 in the FAST draft, gone from the final text.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Unproven citations per lane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67665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051560"/>
            <a:ext cx="4251960" cy="5029200"/>
          </a:xfrm>
          <a:prstGeom prst="roundRect">
            <a:avLst>
              <a:gd name="adj" fmla="val 172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680960" y="13258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Percent of extracted cites Diké marked FALLO.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56032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Measured on 2 synthetic questions × 4 conditions with a scripted LLM. Not a production rate.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4160520"/>
            <a:ext cx="3794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Live 30-question Nightshift bank was skipped: the Windows VM did not accept TCP :8088 at packaging.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Limits we will not paper 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Dated corpus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2984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Twenty-five statutes. Municipal, procurement, transparency, traffic and Fintech law: the router abstains.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47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450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Proof, not merit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4871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Diké proves the article exists, has citable text, and was in force. It does not prove the argument.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11247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6393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Windows Runtime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67588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Linux Nightshift. SAMPLE_MODE replays 27 Oct and is labeled in the UI. The prize receipt needs the VM.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11247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828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Synthetic bank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86460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Dashboard copy is mandatory: figures are measured on synthetic items, not production.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6596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Next: live bank, then the courtroom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Thirty live questions when Nightshift is up. More scenarios. A third party verifying the ZIP with no Runtime.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Nemotron cites. Diké proves. The lawyer decides if the article supports the claim.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ke Shield">
  <a:themeElements>
    <a:clrScheme name="Dike Shield">
      <a:dk1>
        <a:srgbClr val="1B1712"/>
      </a:dk1>
      <a:lt1>
        <a:srgbClr val="FFFFFF"/>
      </a:lt1>
      <a:dk2>
        <a:srgbClr val="3D342C"/>
      </a:dk2>
      <a:lt2>
        <a:srgbClr val="F4EFE4"/>
      </a:lt2>
      <a:accent1>
        <a:srgbClr val="7A1F1F"/>
      </a:accent1>
      <a:accent2>
        <a:srgbClr val="C4A35A"/>
      </a:accent2>
      <a:accent3>
        <a:srgbClr val="2F4A3C"/>
      </a:accent3>
      <a:accent4>
        <a:srgbClr val="5C4E3A"/>
      </a:accent4>
      <a:accent5>
        <a:srgbClr val="8C3A2A"/>
      </a:accent5>
      <a:accent6>
        <a:srgbClr val="1F2A44"/>
      </a:accent6>
      <a:hlink>
        <a:srgbClr val="7A1F1F"/>
      </a:hlink>
      <a:folHlink>
        <a:srgbClr val="5C4E3A"/>
      </a:folHlink>
    </a:clrScheme>
    <a:fontScheme name="Dike Sh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Dike Shield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Dike Shield</dc:title>
  <dc:subject>Nemotron cites. Dike proves.</dc:subject>
  <dc:creator>Open Agent Hackathon 2026</dc:creator>
  <cp:lastModifiedBy>Open Agent Hackathon 2026</cp:lastModifiedBy>
  <cp:revision>1</cp:revision>
  <dcterms:created xsi:type="dcterms:W3CDTF">2026-10-27T17:28:22Z</dcterms:created>
  <dcterms:modified xsi:type="dcterms:W3CDTF">2026-10-27T17:28:22Z</dcterms:modified>
</cp:coreProperties>
</file>